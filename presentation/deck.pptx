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111"/>
                </a:solidFill>
                <a:latin typeface="Segoe UI"/>
              </a:defRPr>
            </a:pPr>
            <a:r>
              <a:rPr sz="1200" b="0" i="0" u="none" strike="noStrike">
                <a:solidFill>
                  <a:srgbClr val="111111"/>
                </a:solidFill>
                <a:latin typeface="Segoe UI"/>
              </a:rPr>
              <a:t>Equal error rate per attack system (%) ·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EER %</c:v>
                </c:pt>
              </c:strCache>
            </c:strRef>
          </c:tx>
          <c:spPr>
            <a:solidFill>
              <a:srgbClr val="E8F54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F5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F54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F5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F54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F54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F54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F54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F54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8F54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8F542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8F542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A07</c:v>
                  </c:pt>
                  <c:pt idx="1">
                    <c:v>A08</c:v>
                  </c:pt>
                  <c:pt idx="2">
                    <c:v>A09</c:v>
                  </c:pt>
                  <c:pt idx="3">
                    <c:v>A10</c:v>
                  </c:pt>
                  <c:pt idx="4">
                    <c:v>A11</c:v>
                  </c:pt>
                  <c:pt idx="5">
                    <c:v>A12</c:v>
                  </c:pt>
                  <c:pt idx="6">
                    <c:v>A13</c:v>
                  </c:pt>
                  <c:pt idx="7">
                    <c:v>A14</c:v>
                  </c:pt>
                  <c:pt idx="8">
                    <c:v>A15</c:v>
                  </c:pt>
                  <c:pt idx="9">
                    <c:v>A16</c:v>
                  </c:pt>
                  <c:pt idx="10">
                    <c:v>A17</c:v>
                  </c:pt>
                  <c:pt idx="11">
                    <c:v>A18</c:v>
                  </c:pt>
                  <c:pt idx="12">
                    <c:v>A19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0.86</c:v>
                </c:pt>
                <c:pt idx="1">
                  <c:v>0.38</c:v>
                </c:pt>
                <c:pt idx="2">
                  <c:v>0.02</c:v>
                </c:pt>
                <c:pt idx="3">
                  <c:v>1.3</c:v>
                </c:pt>
                <c:pt idx="4">
                  <c:v>0.65</c:v>
                </c:pt>
                <c:pt idx="5">
                  <c:v>0.76</c:v>
                </c:pt>
                <c:pt idx="6">
                  <c:v>0.15</c:v>
                </c:pt>
                <c:pt idx="7">
                  <c:v>0.22</c:v>
                </c:pt>
                <c:pt idx="8">
                  <c:v>0.71</c:v>
                </c:pt>
                <c:pt idx="9">
                  <c:v>0.57</c:v>
                </c:pt>
                <c:pt idx="10">
                  <c:v>1.71</c:v>
                </c:pt>
                <c:pt idx="11">
                  <c:v>4.91</c:v>
                </c:pt>
                <c:pt idx="12">
                  <c:v>0.61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2D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2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VoiceShield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31175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voice detection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riyanshu-singh-git.github.io/voiceshield/" TargetMode="External"/><Relationship Id="rId3" Type="http://schemas.openxmlformats.org/officeDocument/2006/relationships/hyperlink" Target="https://github.com/Priyanshu-Singh-git/voiceshield" TargetMode="External"/><Relationship Id="rId1" Type="http://schemas.openxmlformats.org/officeDocument/2006/relationships/image" Target="../media/image-10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31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 AI-cloned and synthetic voices from a few seconds of audio.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069080" y="685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1.40%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06908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 error rate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89320" y="685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71,237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8932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clips</a:t>
            </a:r>
            <a:endParaRPr lang="en-US" sz="1000" dirty="0"/>
          </a:p>
        </p:txBody>
      </p:sp>
      <p:sp>
        <p:nvSpPr>
          <p:cNvPr id="7" name="Product name"/>
          <p:cNvSpPr/>
          <p:nvPr/>
        </p:nvSpPr>
        <p:spPr>
          <a:xfrm>
            <a:off x="5836615" y="502920"/>
            <a:ext cx="5852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84000"/>
              </a:lnSpc>
              <a:buNone/>
            </a:pPr>
            <a:r>
              <a:rPr lang="en-US" sz="10400" spc="-30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Voice</a:t>
            </a:r>
            <a:endParaRPr lang="en-US" sz="10400" dirty="0"/>
          </a:p>
          <a:p>
            <a:pPr algn="r" indent="0" marL="0">
              <a:lnSpc>
                <a:spcPct val="84000"/>
              </a:lnSpc>
              <a:buNone/>
            </a:pPr>
            <a:r>
              <a:rPr lang="en-US" sz="10400" spc="-30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-Shield</a:t>
            </a:r>
            <a:endParaRPr lang="en-US" sz="10400" dirty="0"/>
          </a:p>
        </p:txBody>
      </p:sp>
      <p:sp>
        <p:nvSpPr>
          <p:cNvPr id="8" name="USP"/>
          <p:cNvSpPr/>
          <p:nvPr/>
        </p:nvSpPr>
        <p:spPr>
          <a:xfrm>
            <a:off x="50292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voice or AI clone?  </a:t>
            </a:r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highlight>
                  <a:srgbClr val="E8F542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Know in a second.</a:t>
            </a:r>
            <a:endParaRPr lang="en-US" sz="2400" dirty="0"/>
          </a:p>
        </p:txBody>
      </p:sp>
      <p:sp>
        <p:nvSpPr>
          <p:cNvPr id="9" name="Render strip"/>
          <p:cNvSpPr/>
          <p:nvPr/>
        </p:nvSpPr>
        <p:spPr>
          <a:xfrm>
            <a:off x="502920" y="3977640"/>
            <a:ext cx="11185855" cy="2377440"/>
          </a:xfrm>
          <a:prstGeom prst="roundRect">
            <a:avLst>
              <a:gd name="adj" fmla="val 13462"/>
            </a:avLst>
          </a:prstGeom>
          <a:solidFill>
            <a:srgbClr val="111111"/>
          </a:solidFill>
          <a:ln/>
        </p:spPr>
      </p:sp>
      <p:pic>
        <p:nvPicPr>
          <p:cNvPr id="10" name="3D speech render" descr="F:\18_days_18_product\day03_voiceshield\assets\figures\render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3641" y="4023360"/>
            <a:ext cx="4481932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53492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Graph-attention network · runs in the browser · </a:t>
            </a:r>
            <a:pPr indent="0" marL="0">
              <a:buNone/>
            </a:pPr>
            <a:r>
              <a:rPr lang="en-US" sz="1300" dirty="0">
                <a:solidFill>
                  <a:srgbClr val="E8F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never leaves your device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820095" y="56235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F542"/>
          </a:solidFill>
          <a:ln/>
        </p:spPr>
      </p:sp>
      <p:sp>
        <p:nvSpPr>
          <p:cNvPr id="13" name="Text 10"/>
          <p:cNvSpPr/>
          <p:nvPr/>
        </p:nvSpPr>
        <p:spPr>
          <a:xfrm>
            <a:off x="10820095" y="5623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✳</a:t>
            </a:r>
            <a:endParaRPr lang="en-US" sz="2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731520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5200" spc="-150" kern="0" dirty="0">
                <a:solidFill>
                  <a:srgbClr val="11111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Anyone's voice</a:t>
            </a:r>
            <a:endParaRPr lang="en-US" sz="52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5200" spc="-15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can be cloned</a:t>
            </a:r>
            <a:endParaRPr lang="en-US" sz="5200" dirty="0"/>
          </a:p>
        </p:txBody>
      </p:sp>
      <p:sp>
        <p:nvSpPr>
          <p:cNvPr id="3" name="Card 01"/>
          <p:cNvSpPr/>
          <p:nvPr/>
        </p:nvSpPr>
        <p:spPr>
          <a:xfrm>
            <a:off x="502920" y="2514600"/>
            <a:ext cx="2625014" cy="3749040"/>
          </a:xfrm>
          <a:prstGeom prst="roundRect">
            <a:avLst>
              <a:gd name="adj" fmla="val 12192"/>
            </a:avLst>
          </a:prstGeom>
          <a:solidFill>
            <a:srgbClr val="FAFAF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788920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Seconds of audio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3474720"/>
            <a:ext cx="20763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tools clone a voice from a short recording.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5029200"/>
            <a:ext cx="20763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spc="-20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01</a:t>
            </a:r>
            <a:endParaRPr lang="en-US" sz="6400" dirty="0"/>
          </a:p>
        </p:txBody>
      </p:sp>
      <p:sp>
        <p:nvSpPr>
          <p:cNvPr id="7" name="Card 02"/>
          <p:cNvSpPr/>
          <p:nvPr/>
        </p:nvSpPr>
        <p:spPr>
          <a:xfrm>
            <a:off x="3356534" y="2514600"/>
            <a:ext cx="2625014" cy="3749040"/>
          </a:xfrm>
          <a:prstGeom prst="roundRect">
            <a:avLst>
              <a:gd name="adj" fmla="val 12192"/>
            </a:avLst>
          </a:prstGeom>
          <a:solidFill>
            <a:srgbClr val="E8F542"/>
          </a:solidFill>
          <a:ln/>
        </p:spPr>
      </p:sp>
      <p:sp>
        <p:nvSpPr>
          <p:cNvPr id="8" name="Text 6"/>
          <p:cNvSpPr/>
          <p:nvPr/>
        </p:nvSpPr>
        <p:spPr>
          <a:xfrm>
            <a:off x="3630854" y="2788920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Convincing calls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30854" y="3474720"/>
            <a:ext cx="20763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Fraudsters use cloned voices to pose as a boss, a relative or a customer.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30854" y="5029200"/>
            <a:ext cx="20763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spc="-20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02</a:t>
            </a:r>
            <a:endParaRPr lang="en-US" sz="6400" dirty="0"/>
          </a:p>
        </p:txBody>
      </p:sp>
      <p:sp>
        <p:nvSpPr>
          <p:cNvPr id="11" name="Card 03"/>
          <p:cNvSpPr/>
          <p:nvPr/>
        </p:nvSpPr>
        <p:spPr>
          <a:xfrm>
            <a:off x="6210148" y="2514600"/>
            <a:ext cx="2625014" cy="3749040"/>
          </a:xfrm>
          <a:prstGeom prst="roundRect">
            <a:avLst>
              <a:gd name="adj" fmla="val 12192"/>
            </a:avLst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6484468" y="2788920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Ears aren't enough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84468" y="3474720"/>
            <a:ext cx="20763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synthetic speech is hard to spot by listening alone.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84468" y="5029200"/>
            <a:ext cx="20763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spc="-200" kern="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6400" dirty="0"/>
          </a:p>
        </p:txBody>
      </p:sp>
      <p:sp>
        <p:nvSpPr>
          <p:cNvPr id="15" name="Card 04"/>
          <p:cNvSpPr/>
          <p:nvPr/>
        </p:nvSpPr>
        <p:spPr>
          <a:xfrm>
            <a:off x="9063761" y="2514600"/>
            <a:ext cx="2625014" cy="3749040"/>
          </a:xfrm>
          <a:prstGeom prst="roundRect">
            <a:avLst>
              <a:gd name="adj" fmla="val 12192"/>
            </a:avLst>
          </a:prstGeom>
          <a:solidFill>
            <a:srgbClr val="FAFAF8"/>
          </a:solidFill>
          <a:ln/>
        </p:spPr>
      </p:sp>
      <p:sp>
        <p:nvSpPr>
          <p:cNvPr id="16" name="Text 14"/>
          <p:cNvSpPr/>
          <p:nvPr/>
        </p:nvSpPr>
        <p:spPr>
          <a:xfrm>
            <a:off x="9338081" y="2788920"/>
            <a:ext cx="20763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 automatically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38081" y="3474720"/>
            <a:ext cx="20763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centres, banks and platforms need a fast, automatic check.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38081" y="5029200"/>
            <a:ext cx="20763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400" spc="-20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04</a:t>
            </a:r>
            <a:endParaRPr lang="en-US" sz="6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nder card"/>
          <p:cNvSpPr/>
          <p:nvPr/>
        </p:nvSpPr>
        <p:spPr>
          <a:xfrm>
            <a:off x="502920" y="731520"/>
            <a:ext cx="5120640" cy="5577840"/>
          </a:xfrm>
          <a:prstGeom prst="roundRect">
            <a:avLst>
              <a:gd name="adj" fmla="val 6250"/>
            </a:avLst>
          </a:prstGeom>
          <a:solidFill>
            <a:srgbClr val="E9E9E6"/>
          </a:solidFill>
          <a:ln/>
        </p:spPr>
      </p:sp>
      <p:pic>
        <p:nvPicPr>
          <p:cNvPr id="3" name="3D speech ribbon" descr="F:\18_days_18_product\day03_voiceshield\assets\figures\render_ribb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37656"/>
            <a:ext cx="4754880" cy="33655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80760" y="914400"/>
            <a:ext cx="6035040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6400" spc="-15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Real voice</a:t>
            </a:r>
            <a:endParaRPr lang="en-US" sz="64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6400" spc="-150" kern="0" dirty="0">
                <a:solidFill>
                  <a:srgbClr val="11111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or AI clone?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6080760" y="33832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VoiceShield listens to a few seconds of speech and flags synthetic or cloned voices, the tiny vocoder artefacts that ears miss. It runs in the browser, so recordings never leave the device.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80760" y="49377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F54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4937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the live demo  →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41080" y="493776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41080" y="4937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· upload · test clips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1140135" y="5760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11111"/>
          </a:solidFill>
          <a:ln/>
        </p:spPr>
      </p:sp>
      <p:sp>
        <p:nvSpPr>
          <p:cNvPr id="11" name="Text 8"/>
          <p:cNvSpPr/>
          <p:nvPr/>
        </p:nvSpPr>
        <p:spPr>
          <a:xfrm>
            <a:off x="11140135" y="5760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E8F542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✳</a:t>
            </a:r>
            <a:endParaRPr lang="en-US" sz="1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82296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5000" spc="-150" kern="0" dirty="0">
                <a:solidFill>
                  <a:srgbClr val="11111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Catches AI voices</a:t>
            </a:r>
            <a:endParaRPr lang="en-US" sz="50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5000" spc="-15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it has never heard</a:t>
            </a:r>
            <a:endParaRPr lang="en-US" sz="5000" dirty="0"/>
          </a:p>
        </p:txBody>
      </p:sp>
      <p:sp>
        <p:nvSpPr>
          <p:cNvPr id="3" name="Stat 1"/>
          <p:cNvSpPr/>
          <p:nvPr/>
        </p:nvSpPr>
        <p:spPr>
          <a:xfrm>
            <a:off x="502920" y="2514600"/>
            <a:ext cx="2625014" cy="2011680"/>
          </a:xfrm>
          <a:prstGeom prst="roundRect">
            <a:avLst>
              <a:gd name="adj" fmla="val 15909"/>
            </a:avLst>
          </a:prstGeom>
          <a:solidFill>
            <a:srgbClr val="E8F54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743200"/>
            <a:ext cx="20763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1.40%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3611880"/>
            <a:ext cx="20763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equal error 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is better</a:t>
            </a:r>
            <a:endParaRPr lang="en-US" sz="1200" dirty="0"/>
          </a:p>
        </p:txBody>
      </p:sp>
      <p:sp>
        <p:nvSpPr>
          <p:cNvPr id="6" name="Stat 2"/>
          <p:cNvSpPr/>
          <p:nvPr/>
        </p:nvSpPr>
        <p:spPr>
          <a:xfrm>
            <a:off x="3356534" y="2514600"/>
            <a:ext cx="2625014" cy="2011680"/>
          </a:xfrm>
          <a:prstGeom prst="roundRect">
            <a:avLst>
              <a:gd name="adj" fmla="val 15909"/>
            </a:avLst>
          </a:prstGeom>
          <a:solidFill>
            <a:srgbClr val="FAFAF8"/>
          </a:solidFill>
          <a:ln/>
        </p:spPr>
      </p:sp>
      <p:sp>
        <p:nvSpPr>
          <p:cNvPr id="7" name="Text 5"/>
          <p:cNvSpPr/>
          <p:nvPr/>
        </p:nvSpPr>
        <p:spPr>
          <a:xfrm>
            <a:off x="3630854" y="2743200"/>
            <a:ext cx="20763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83.9%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30854" y="3611880"/>
            <a:ext cx="20763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clips caught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0.1% of real voices flagged</a:t>
            </a:r>
            <a:endParaRPr lang="en-US" sz="1200" dirty="0"/>
          </a:p>
        </p:txBody>
      </p:sp>
      <p:sp>
        <p:nvSpPr>
          <p:cNvPr id="9" name="Stat 3"/>
          <p:cNvSpPr/>
          <p:nvPr/>
        </p:nvSpPr>
        <p:spPr>
          <a:xfrm>
            <a:off x="6210148" y="2514600"/>
            <a:ext cx="2625014" cy="2011680"/>
          </a:xfrm>
          <a:prstGeom prst="roundRect">
            <a:avLst>
              <a:gd name="adj" fmla="val 15909"/>
            </a:avLst>
          </a:prstGeom>
          <a:solidFill>
            <a:srgbClr val="FAFAF8"/>
          </a:solidFill>
          <a:ln/>
        </p:spPr>
      </p:sp>
      <p:sp>
        <p:nvSpPr>
          <p:cNvPr id="10" name="Text 8"/>
          <p:cNvSpPr/>
          <p:nvPr/>
        </p:nvSpPr>
        <p:spPr>
          <a:xfrm>
            <a:off x="6484468" y="2743200"/>
            <a:ext cx="20763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0.042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84468" y="3611880"/>
            <a:ext cx="20763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 t-DCF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ASVspoof metric</a:t>
            </a:r>
            <a:endParaRPr lang="en-US" sz="1200" dirty="0"/>
          </a:p>
        </p:txBody>
      </p:sp>
      <p:sp>
        <p:nvSpPr>
          <p:cNvPr id="12" name="Stat 4"/>
          <p:cNvSpPr/>
          <p:nvPr/>
        </p:nvSpPr>
        <p:spPr>
          <a:xfrm>
            <a:off x="9063761" y="2514600"/>
            <a:ext cx="2625014" cy="2011680"/>
          </a:xfrm>
          <a:prstGeom prst="roundRect">
            <a:avLst>
              <a:gd name="adj" fmla="val 15909"/>
            </a:avLst>
          </a:prstGeom>
          <a:solidFill>
            <a:srgbClr val="FAFAF8"/>
          </a:solidFill>
          <a:ln/>
        </p:spPr>
      </p:sp>
      <p:sp>
        <p:nvSpPr>
          <p:cNvPr id="13" name="Text 11"/>
          <p:cNvSpPr/>
          <p:nvPr/>
        </p:nvSpPr>
        <p:spPr>
          <a:xfrm>
            <a:off x="9338081" y="2743200"/>
            <a:ext cx="20763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1.1 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338081" y="3611880"/>
            <a:ext cx="20763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clip in a browser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server, no upload</a:t>
            </a:r>
            <a:endParaRPr lang="en-US" sz="1200" dirty="0"/>
          </a:p>
        </p:txBody>
      </p:sp>
      <p:sp>
        <p:nvSpPr>
          <p:cNvPr id="15" name="Note"/>
          <p:cNvSpPr/>
          <p:nvPr/>
        </p:nvSpPr>
        <p:spPr>
          <a:xfrm>
            <a:off x="502920" y="4754880"/>
            <a:ext cx="11185855" cy="1554480"/>
          </a:xfrm>
          <a:prstGeom prst="roundRect">
            <a:avLst>
              <a:gd name="adj" fmla="val 20588"/>
            </a:avLst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92040"/>
            <a:ext cx="97228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was measured  </a:t>
            </a:r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ASVspoof 2019 LA evaluation set: 7,355 real and 63,882 AI clips from 13 attack systems, 11 of them never seen in training. The pass/fail threshold is fixed on the separate development set.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820095" y="5257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F542"/>
          </a:solidFill>
          <a:ln/>
        </p:spPr>
      </p:sp>
      <p:sp>
        <p:nvSpPr>
          <p:cNvPr id="18" name="Text 16"/>
          <p:cNvSpPr/>
          <p:nvPr/>
        </p:nvSpPr>
        <p:spPr>
          <a:xfrm>
            <a:off x="10820095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✳</a:t>
            </a:r>
            <a:endParaRPr lang="en-US" sz="2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457200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5600" spc="-15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Product</a:t>
            </a:r>
            <a:endParaRPr lang="en-US" sz="56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5600" spc="-150" kern="0" dirty="0">
                <a:solidFill>
                  <a:srgbClr val="11111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overview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502920" y="2423160"/>
            <a:ext cx="685800" cy="384048"/>
          </a:xfrm>
          <a:prstGeom prst="roundRect">
            <a:avLst>
              <a:gd name="adj" fmla="val 50000"/>
            </a:avLst>
          </a:prstGeom>
          <a:solidFill>
            <a:srgbClr val="E8F54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4231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or upload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4-second mic recording, or any audio file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383280"/>
            <a:ext cx="6858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3832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3375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verdict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voice vs AI-generated, with a confidence needle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343400"/>
            <a:ext cx="6858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34340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4297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the evidence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Spectrogram with each analysed window marked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5303520"/>
            <a:ext cx="6858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530352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5257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by design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runs in the browser; nothing is uploaded</a:t>
            </a:r>
            <a:endParaRPr lang="en-US" sz="1300" dirty="0"/>
          </a:p>
        </p:txBody>
      </p:sp>
      <p:sp>
        <p:nvSpPr>
          <p:cNvPr id="15" name="Screenshot frame"/>
          <p:cNvSpPr/>
          <p:nvPr/>
        </p:nvSpPr>
        <p:spPr>
          <a:xfrm>
            <a:off x="5166360" y="731520"/>
            <a:ext cx="6522415" cy="5577840"/>
          </a:xfrm>
          <a:prstGeom prst="roundRect">
            <a:avLst>
              <a:gd name="adj" fmla="val 5738"/>
            </a:avLst>
          </a:prstGeom>
          <a:solidFill>
            <a:srgbClr val="111111"/>
          </a:solidFill>
          <a:ln/>
        </p:spPr>
      </p:sp>
      <p:pic>
        <p:nvPicPr>
          <p:cNvPr id="16" name="Demo screenshot" descr="F:\18_days_18_product\day03_voiceshield\assets\figures\demo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052980"/>
            <a:ext cx="6156655" cy="493492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1"/>
          <p:cNvSpPr/>
          <p:nvPr/>
        </p:nvSpPr>
        <p:spPr>
          <a:xfrm>
            <a:off x="502920" y="731520"/>
            <a:ext cx="5669280" cy="1234440"/>
          </a:xfrm>
          <a:prstGeom prst="roundRect">
            <a:avLst>
              <a:gd name="adj" fmla="val 25926"/>
            </a:avLst>
          </a:prstGeom>
          <a:solidFill>
            <a:srgbClr val="FAFAF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3152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45920" y="86868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waveform 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hand-made features: 4 s of 16 kHz audio.</a:t>
            </a:r>
            <a:endParaRPr lang="en-US" sz="1300" dirty="0"/>
          </a:p>
        </p:txBody>
      </p:sp>
      <p:sp>
        <p:nvSpPr>
          <p:cNvPr id="5" name="Step 2"/>
          <p:cNvSpPr/>
          <p:nvPr/>
        </p:nvSpPr>
        <p:spPr>
          <a:xfrm>
            <a:off x="502920" y="2148840"/>
            <a:ext cx="5669280" cy="1234440"/>
          </a:xfrm>
          <a:prstGeom prst="roundRect">
            <a:avLst>
              <a:gd name="adj" fmla="val 25926"/>
            </a:avLst>
          </a:prstGeom>
          <a:solidFill>
            <a:srgbClr val="FAFA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22860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Learnable band-pass filters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 sinc filters split the sound into frequency bands.</a:t>
            </a:r>
            <a:endParaRPr lang="en-US" sz="1300" dirty="0"/>
          </a:p>
        </p:txBody>
      </p:sp>
      <p:sp>
        <p:nvSpPr>
          <p:cNvPr id="8" name="Step 3"/>
          <p:cNvSpPr/>
          <p:nvPr/>
        </p:nvSpPr>
        <p:spPr>
          <a:xfrm>
            <a:off x="502920" y="3566160"/>
            <a:ext cx="5669280" cy="1234440"/>
          </a:xfrm>
          <a:prstGeom prst="roundRect">
            <a:avLst>
              <a:gd name="adj" fmla="val 25926"/>
            </a:avLst>
          </a:prstGeom>
          <a:solidFill>
            <a:srgbClr val="E8F54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56616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45920" y="370332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graphs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graph over frequency bands, one over time frames, each with attention.</a:t>
            </a:r>
            <a:endParaRPr lang="en-US" sz="1300" dirty="0"/>
          </a:p>
        </p:txBody>
      </p:sp>
      <p:sp>
        <p:nvSpPr>
          <p:cNvPr id="11" name="Step 4"/>
          <p:cNvSpPr/>
          <p:nvPr/>
        </p:nvSpPr>
        <p:spPr>
          <a:xfrm>
            <a:off x="502920" y="4983480"/>
            <a:ext cx="5669280" cy="1234440"/>
          </a:xfrm>
          <a:prstGeom prst="roundRect">
            <a:avLst>
              <a:gd name="adj" fmla="val 25926"/>
            </a:avLst>
          </a:prstGeom>
          <a:solidFill>
            <a:srgbClr val="FAFAF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98348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512064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Fused by a master node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heterogeneous graph links both views and scores real vs AI.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731520"/>
            <a:ext cx="512064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5000" spc="-150" kern="0" dirty="0">
                <a:solidFill>
                  <a:srgbClr val="11111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Graph attention</a:t>
            </a:r>
            <a:endParaRPr lang="en-US" sz="50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5000" spc="-15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on raw audio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6629400" y="28346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AASIST learns from raw audio which frequency bands and moments give a synthetic voice away, then lets the two graphs vote through a shared master node. 297,866 parameters: small enough to run in a web browser.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29400" y="502920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50292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AASIST · ICASSP 2022 · built from scratch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54864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5000" spc="-150" kern="0" dirty="0">
                <a:solidFill>
                  <a:srgbClr val="11111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Every attack</a:t>
            </a:r>
            <a:endParaRPr lang="en-US" sz="50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5000" spc="-15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type, tested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502920" y="233172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rate per attack system on the evaluation set. Hardest: A18 at 4.9%. Systems marked grey reuse an algorithm from the training set; the rest were never seen.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484632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8F54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8463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Yellow = never seen in training</a:t>
            </a:r>
            <a:endParaRPr lang="en-US" sz="1200" dirty="0"/>
          </a:p>
        </p:txBody>
      </p:sp>
      <p:sp>
        <p:nvSpPr>
          <p:cNvPr id="6" name="Chart card"/>
          <p:cNvSpPr/>
          <p:nvPr/>
        </p:nvSpPr>
        <p:spPr>
          <a:xfrm>
            <a:off x="4800600" y="731520"/>
            <a:ext cx="6888175" cy="5577840"/>
          </a:xfrm>
          <a:prstGeom prst="roundRect">
            <a:avLst>
              <a:gd name="adj" fmla="val 5738"/>
            </a:avLst>
          </a:prstGeom>
          <a:solidFill>
            <a:srgbClr val="FAFAF8"/>
          </a:solidFill>
          <a:ln/>
        </p:spPr>
      </p:sp>
      <p:graphicFrame>
        <p:nvGraphicFramePr>
          <p:cNvPr id="7" name="Chart 0" descr=""/>
          <p:cNvGraphicFramePr/>
          <p:nvPr/>
        </p:nvGraphicFramePr>
        <p:xfrm>
          <a:off x="4983480" y="914400"/>
          <a:ext cx="6522415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82296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5000" spc="-150" kern="0" dirty="0">
                <a:solidFill>
                  <a:srgbClr val="11111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Benchmarked</a:t>
            </a:r>
            <a:endParaRPr lang="en-US" sz="50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5000" spc="-15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against the field</a:t>
            </a:r>
            <a:endParaRPr lang="en-US" sz="5000" dirty="0"/>
          </a:p>
        </p:txBody>
      </p:sp>
      <p:sp>
        <p:nvSpPr>
          <p:cNvPr id="3" name="Table card"/>
          <p:cNvSpPr/>
          <p:nvPr/>
        </p:nvSpPr>
        <p:spPr>
          <a:xfrm>
            <a:off x="502920" y="2377440"/>
            <a:ext cx="11185855" cy="3054096"/>
          </a:xfrm>
          <a:prstGeom prst="roundRect">
            <a:avLst>
              <a:gd name="adj" fmla="val 10479"/>
            </a:avLst>
          </a:prstGeom>
          <a:solidFill>
            <a:srgbClr val="FAFAF8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60320"/>
          <a:ext cx="108200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1280160"/>
                <a:gridCol w="1554480"/>
                <a:gridCol w="31363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Parameters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EER ↓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 t-DCF ↓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Source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LFCC + LCNN (mine)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158,146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5.75%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0.1665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work · 30 epochs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RawNet2 (mine)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17,621,410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6.04%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0.1421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work · 30 epochs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AASIST-L (mine)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85,306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1.61%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0.0491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work · 30 epochs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AASIST (mine)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297,866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1.40%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0.0424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work · 38 epochs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AASIST (official model)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297k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0.83%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0.0275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clovaai/aasist (100 epochs)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AASIST-L (official model)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85k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0.99%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0.0309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clovaai/aasist (100 epochs)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715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models: trained on Kaggle T4 GPUs for fewer epochs than the official recipe (12-hour session limit). Official numbers: the authors' released pretrained models, from github.com/clovaai/aasist.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85800"/>
            <a:ext cx="82296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5000" spc="-150" kern="0" dirty="0">
                <a:solidFill>
                  <a:srgbClr val="11111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vision backed</a:t>
            </a:r>
            <a:endParaRPr lang="en-US" sz="50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5000" spc="-15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by clear steps</a:t>
            </a:r>
            <a:endParaRPr lang="en-US" sz="5000" dirty="0"/>
          </a:p>
        </p:txBody>
      </p:sp>
      <p:sp>
        <p:nvSpPr>
          <p:cNvPr id="3" name="Work 1"/>
          <p:cNvSpPr/>
          <p:nvPr/>
        </p:nvSpPr>
        <p:spPr>
          <a:xfrm>
            <a:off x="502920" y="2514600"/>
            <a:ext cx="3576218" cy="2926080"/>
          </a:xfrm>
          <a:prstGeom prst="roundRect">
            <a:avLst>
              <a:gd name="adj" fmla="val 10938"/>
            </a:avLst>
          </a:prstGeom>
          <a:solidFill>
            <a:srgbClr val="FAFAF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743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3611880"/>
            <a:ext cx="30275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sample calls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few minutes of your real recordings (and any known fakes).</a:t>
            </a:r>
            <a:endParaRPr lang="en-US" sz="1400" dirty="0"/>
          </a:p>
        </p:txBody>
      </p:sp>
      <p:sp>
        <p:nvSpPr>
          <p:cNvPr id="6" name="Work 2"/>
          <p:cNvSpPr/>
          <p:nvPr/>
        </p:nvSpPr>
        <p:spPr>
          <a:xfrm>
            <a:off x="4307738" y="2514600"/>
            <a:ext cx="3576218" cy="2926080"/>
          </a:xfrm>
          <a:prstGeom prst="roundRect">
            <a:avLst>
              <a:gd name="adj" fmla="val 10938"/>
            </a:avLst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4582058" y="2743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8F542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82058" y="3611880"/>
            <a:ext cx="30275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Calibrated pilot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tune the threshold on your audio and report catch rate vs false alarms.</a:t>
            </a:r>
            <a:endParaRPr lang="en-US" sz="1400" dirty="0"/>
          </a:p>
        </p:txBody>
      </p:sp>
      <p:sp>
        <p:nvSpPr>
          <p:cNvPr id="9" name="Work 3"/>
          <p:cNvSpPr/>
          <p:nvPr/>
        </p:nvSpPr>
        <p:spPr>
          <a:xfrm>
            <a:off x="8112557" y="2514600"/>
            <a:ext cx="3576218" cy="2926080"/>
          </a:xfrm>
          <a:prstGeom prst="roundRect">
            <a:avLst>
              <a:gd name="adj" fmla="val 10938"/>
            </a:avLst>
          </a:prstGeom>
          <a:solidFill>
            <a:srgbClr val="FAFAF8"/>
          </a:solidFill>
          <a:ln/>
        </p:spPr>
      </p:sp>
      <p:sp>
        <p:nvSpPr>
          <p:cNvPr id="10" name="Text 8"/>
          <p:cNvSpPr/>
          <p:nvPr/>
        </p:nvSpPr>
        <p:spPr>
          <a:xfrm>
            <a:off x="8386877" y="2743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386877" y="3611880"/>
            <a:ext cx="30275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Browser, API or on-premise service: your audio stays with you.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140135" y="5806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8F542"/>
          </a:solidFill>
          <a:ln/>
        </p:spPr>
      </p:sp>
      <p:sp>
        <p:nvSpPr>
          <p:cNvPr id="13" name="Text 11"/>
          <p:cNvSpPr/>
          <p:nvPr/>
        </p:nvSpPr>
        <p:spPr>
          <a:xfrm>
            <a:off x="11140135" y="5806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✳</a:t>
            </a:r>
            <a:endParaRPr lang="en-US" sz="1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8229600" cy="186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6400" spc="-150" kern="0" dirty="0">
                <a:solidFill>
                  <a:srgbClr val="11111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Screen your calls</a:t>
            </a:r>
            <a:endParaRPr lang="en-US" sz="64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6400" spc="-150" kern="0" dirty="0">
                <a:solidFill>
                  <a:srgbClr val="11111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for AI voices</a:t>
            </a:r>
            <a:endParaRPr lang="en-US" sz="6400" dirty="0"/>
          </a:p>
        </p:txBody>
      </p:sp>
      <p:sp>
        <p:nvSpPr>
          <p:cNvPr id="3" name="QR card"/>
          <p:cNvSpPr/>
          <p:nvPr/>
        </p:nvSpPr>
        <p:spPr>
          <a:xfrm>
            <a:off x="502920" y="3291840"/>
            <a:ext cx="2743200" cy="301752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</p:spPr>
      </p:sp>
      <p:pic>
        <p:nvPicPr>
          <p:cNvPr id="4" name="Image 0" descr="F:\18_days_18_product\day03_voiceshield\presentation\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2900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760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for the live demo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338328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800" dirty="0"/>
          </a:p>
          <a:p>
            <a:pPr indent="0" marL="0">
              <a:buNone/>
            </a:pPr>
            <a:r>
              <a:rPr lang="en-US" sz="1800" u="sng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priyanshu-singh-git.github.io/voiceshield/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Code, benchmark and limits</a:t>
            </a:r>
            <a:endParaRPr lang="en-US" sz="1800" dirty="0"/>
          </a:p>
          <a:p>
            <a:pPr indent="0" marL="0">
              <a:buNone/>
            </a:pPr>
            <a:r>
              <a:rPr lang="en-US" sz="1800" u="sng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github.com/Priyanshu-Singh-git/voiceshield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11880" y="5486400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E8F54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11880" y="5486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me sample calls · I'll run a pilot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1188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Priyanshu Singh · Freelance AI / ML Engineer · Data: ASVspoof 2019 (ODC-By)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225735" y="3840480"/>
            <a:ext cx="1280160" cy="128016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/>
        </p:spPr>
      </p:sp>
      <p:sp>
        <p:nvSpPr>
          <p:cNvPr id="11" name="Text 8"/>
          <p:cNvSpPr/>
          <p:nvPr/>
        </p:nvSpPr>
        <p:spPr>
          <a:xfrm>
            <a:off x="10225735" y="38404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60" dirty="0">
                <a:solidFill>
                  <a:srgbClr val="E8F542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✳</a:t>
            </a:r>
            <a:endParaRPr lang="en-US" sz="4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oiceShield">
      <a:dk1>
        <a:srgbClr val="111111"/>
      </a:dk1>
      <a:lt1>
        <a:srgbClr val="FFFFFF"/>
      </a:lt1>
      <a:dk2>
        <a:srgbClr val="3D3D3D"/>
      </a:dk2>
      <a:lt2>
        <a:srgbClr val="F2F2EF"/>
      </a:lt2>
      <a:accent1>
        <a:srgbClr val="E8F542"/>
      </a:accent1>
      <a:accent2>
        <a:srgbClr val="111111"/>
      </a:accent2>
      <a:accent3>
        <a:srgbClr val="9CA3AF"/>
      </a:accent3>
      <a:accent4>
        <a:srgbClr val="B42318"/>
      </a:accent4>
      <a:accent5>
        <a:srgbClr val="6B6B6B"/>
      </a:accent5>
      <a:accent6>
        <a:srgbClr val="E2E2DD"/>
      </a:accent6>
      <a:hlink>
        <a:srgbClr val="111111"/>
      </a:hlink>
      <a:folHlink>
        <a:srgbClr val="3D3D3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VoiceShield: AI voice detection</dc:title>
  <dc:subject>PptxGenJS Presentation</dc:subject>
  <dc:creator>Priyanshu Singh</dc:creator>
  <cp:lastModifiedBy>Priyanshu Singh</cp:lastModifiedBy>
  <cp:revision>1</cp:revision>
  <dcterms:created xsi:type="dcterms:W3CDTF">2026-10-03T17:47:21Z</dcterms:created>
  <dcterms:modified xsi:type="dcterms:W3CDTF">2026-10-03T17:47:21Z</dcterms:modified>
</cp:coreProperties>
</file>